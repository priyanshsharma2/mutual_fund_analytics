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Lato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30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32.png"/><Relationship Id="rId6" Type="http://schemas.openxmlformats.org/officeDocument/2006/relationships/image" Target="../media/image4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7.png"/><Relationship Id="rId7" Type="http://schemas.openxmlformats.org/officeDocument/2006/relationships/image" Target="../media/image28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34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297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95425" y="2062162"/>
            <a:ext cx="92011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0F8FF"/>
                </a:solidFill>
                <a:latin typeface="Urbanist"/>
                <a:ea typeface="Urbanist"/>
                <a:cs typeface="Urbanist"/>
                <a:sym typeface="Urbanist"/>
              </a:rPr>
              <a:t>MUTUAL FUND ANALYTICS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714500" y="3062287"/>
            <a:ext cx="8763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Risk Modeling &amp; Portfolio Optimization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714500" y="3938587"/>
            <a:ext cx="876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Capstone Project I — Bluestock Fintech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714500" y="4367212"/>
            <a:ext cx="876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Presented by Priyansh Sharma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297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9337"/>
            <a:ext cx="5286375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19337"/>
            <a:ext cx="5286375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49379" y="3348037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Challenge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852862"/>
            <a:ext cx="46958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Retail investors often focus on raw historical returns, ignoring underlying systemic risks and management inefficiencies that erode capital during market corrections.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512004" y="3348037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29400" y="3852862"/>
            <a:ext cx="46958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 automated analytical ecosystem to audit 40 schemes using risk-adjusted metrics (Sharpe, Alpha, Beta) and composite scorecards for objective fund selection.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86087" y="26622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48712" y="26622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0F8FF"/>
                </a:solidFill>
                <a:latin typeface="Urbanist"/>
                <a:ea typeface="Urbanist"/>
                <a:cs typeface="Urbanist"/>
                <a:sym typeface="Urbanist"/>
              </a:rPr>
              <a:t>Problem &amp; Strategic Objective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297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6692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175" y="2085975"/>
            <a:ext cx="5248275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221932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Historical NAV: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Trailing data from nav_history.csv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274320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Benchmarks: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Nifty 50 and Nifty 100 daily returns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326707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Master Data: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fund_master and scheme_sectors mapping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379095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Live API: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Dynamic ingestion via mfapi.in REST endpoints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717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795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3194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843337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0F8FF"/>
                </a:solidFill>
                <a:latin typeface="Urbanist"/>
                <a:ea typeface="Urbanist"/>
                <a:cs typeface="Urbanist"/>
                <a:sym typeface="Urbanist"/>
              </a:rPr>
              <a:t>Data Ingestion Framework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297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62000" y="571500"/>
            <a:ext cx="50006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0F8FF"/>
                </a:solidFill>
                <a:latin typeface="Urbanist"/>
                <a:ea typeface="Urbanist"/>
                <a:cs typeface="Urbanist"/>
                <a:sym typeface="Urbanist"/>
              </a:rPr>
              <a:t>Pipeline Architecture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571500"/>
            <a:ext cx="95250" cy="438150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139065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robust ETL pipeline designed for scalability and data integrity: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52500" y="2257425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Extraction: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Memory-safe chunked loading of large financial history arrays.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52500" y="3019425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Transformation: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Automated cleaning, outlier detection, and return vectorization.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52500" y="3781425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Relational Star-Schema mapping for efficient cross-category queries.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955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575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19525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297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46101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Insights: SBI AMC dominates market share with ₹12.5L Cr AUM, while thematic funds show highest growth velocity.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201638" y="2714625"/>
            <a:ext cx="2362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05537"/>
                </a:solidFill>
                <a:latin typeface="Urbanist"/>
                <a:ea typeface="Urbanist"/>
                <a:cs typeface="Urbanist"/>
                <a:sym typeface="Urbanist"/>
              </a:rPr>
              <a:t>₹81L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201638" y="3857625"/>
            <a:ext cx="2362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Total Industry AUM (Cr)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824263" y="2714625"/>
            <a:ext cx="24098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05537"/>
                </a:solidFill>
                <a:latin typeface="Urbanist"/>
                <a:ea typeface="Urbanist"/>
                <a:cs typeface="Urbanist"/>
                <a:sym typeface="Urbanist"/>
              </a:rPr>
              <a:t>₹31K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824263" y="3857625"/>
            <a:ext cx="24098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Monthly SIP Inflows (Cr)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494514" y="2714625"/>
            <a:ext cx="24955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05537"/>
                </a:solidFill>
                <a:latin typeface="Urbanist"/>
                <a:ea typeface="Urbanist"/>
                <a:cs typeface="Urbanist"/>
                <a:sym typeface="Urbanist"/>
              </a:rPr>
              <a:t>26.1M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494514" y="3857625"/>
            <a:ext cx="24955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Active Investor Folios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0F8FF"/>
                </a:solidFill>
                <a:latin typeface="Urbanist"/>
                <a:ea typeface="Urbanist"/>
                <a:cs typeface="Urbanist"/>
                <a:sym typeface="Urbanist"/>
              </a:rPr>
              <a:t>EDA: Industry Scale Analysis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297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6850"/>
            <a:ext cx="1104900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0F8FF"/>
                </a:solidFill>
                <a:latin typeface="Urbanist"/>
                <a:ea typeface="Urbanist"/>
                <a:cs typeface="Urbanist"/>
                <a:sym typeface="Urbanist"/>
              </a:rPr>
              <a:t>EDA: Geographic &amp; Demographic Mix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297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2310"/>
            <a:ext cx="5381625" cy="268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532310"/>
            <a:ext cx="5381625" cy="268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380035"/>
            <a:ext cx="4791075" cy="614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3380035"/>
            <a:ext cx="4791075" cy="64070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746998" y="2827585"/>
            <a:ext cx="503062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Sharpe Ratio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866775" y="4185195"/>
            <a:ext cx="47910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Measures excess return per unit of total risk using 6.5% risk-free rate.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414373" y="2827585"/>
            <a:ext cx="503062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CAGR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534150" y="4211240"/>
            <a:ext cx="47910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Smoothed annualized growth rate across multi-year evaluation horizons.</a:t>
            </a:r>
            <a:endParaRPr/>
          </a:p>
        </p:txBody>
      </p:sp>
      <p:pic>
        <p:nvPicPr>
          <p:cNvPr descr="image.png" id="171" name="Google Shape;17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55378" y="3570535"/>
            <a:ext cx="1461343" cy="233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94786" y="3570535"/>
            <a:ext cx="1317426" cy="25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0F8FF"/>
                </a:solidFill>
                <a:latin typeface="Urbanist"/>
                <a:ea typeface="Urbanist"/>
                <a:cs typeface="Urbanist"/>
                <a:sym typeface="Urbanist"/>
              </a:rPr>
              <a:t>Risk-Adjusted Performance Models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297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6850"/>
            <a:ext cx="11049000" cy="481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37695" y="4550568"/>
            <a:ext cx="1964233" cy="17621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0F8FF"/>
                </a:solidFill>
                <a:latin typeface="Urbanist"/>
                <a:ea typeface="Urbanist"/>
                <a:cs typeface="Urbanist"/>
                <a:sym typeface="Urbanist"/>
              </a:rPr>
              <a:t>Systemic Risk Registry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297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812" y="220980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6862" y="2228850"/>
            <a:ext cx="3295650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6334125" y="2643187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Macro Insights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334125" y="314801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first interface delivers high-level KPI visibility for the C-Suite, tracking aggregate capital migrations and market share dominance in real-time.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715125" y="415766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Real-time SIP Milestone tracking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715125" y="463391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Interactive AMC Market Slicers</a:t>
            </a:r>
            <a:endParaRPr/>
          </a:p>
        </p:txBody>
      </p:sp>
      <p:pic>
        <p:nvPicPr>
          <p:cNvPr descr="image.png" id="195" name="Google Shape;19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1957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6720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0F8FF"/>
                </a:solidFill>
                <a:latin typeface="Urbanist"/>
                <a:ea typeface="Urbanist"/>
                <a:cs typeface="Urbanist"/>
                <a:sym typeface="Urbanist"/>
              </a:rPr>
              <a:t>Dashboard: Industry Intelligence</a:t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2970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6692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571500" y="206692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Risk-Reward Profiling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571500" y="25717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 interactive scatter-plot environment for analysts to identify high-efficiency managers.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571500" y="4343400"/>
            <a:ext cx="5286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*Allows for benchmark-specific alpha auditing.</a:t>
            </a:r>
            <a:endParaRPr/>
          </a:p>
        </p:txBody>
      </p:sp>
      <p:pic>
        <p:nvPicPr>
          <p:cNvPr descr="image.png" id="208" name="Google Shape;20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175" y="2085975"/>
            <a:ext cx="5248275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838200" y="32956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952500" y="329565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X-Axis: Annualized Return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838200" y="35814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952500" y="358140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Y-Axis: Total Volatility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838200" y="38671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952500" y="386715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Bubble Size: Fund AUM Magnitude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0F8FF"/>
                </a:solidFill>
                <a:latin typeface="Urbanist"/>
                <a:ea typeface="Urbanist"/>
                <a:cs typeface="Urbanist"/>
                <a:sym typeface="Urbanist"/>
              </a:rPr>
              <a:t>Dashboard: Performance Sandbox</a:t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297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952500" y="285750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CRM Churn Protocol: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Subscription gaps &gt; 35 days trigger a 60% escalation in cancellation risk; proactive re-engagement required at Day 25.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952500" y="361950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HHI-Based Allocation: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Enforce strict 0.25 HHI caps to protect portfolios against idiosyncratic sector volatility.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952500" y="409575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B30 Market Vector: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Redirect digital acquisition capital to Tier-2/3 segments where retail micro-investing growth is highest.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952500" y="457200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Sortino-Centric Ranking: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Prioritize downside-variance metrics in scorecards to avoid penalizing growth-driven upside volatility.</a:t>
            </a:r>
            <a:endParaRPr/>
          </a:p>
        </p:txBody>
      </p:sp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956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576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3385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10100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762000" y="57150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0F8FF"/>
                </a:solidFill>
                <a:latin typeface="Urbanist"/>
                <a:ea typeface="Urbanist"/>
                <a:cs typeface="Urbanist"/>
                <a:sym typeface="Urbanist"/>
              </a:rPr>
              <a:t>Key Findings &amp; Strategy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571500" y="571500"/>
            <a:ext cx="95250" cy="514350"/>
          </a:xfrm>
          <a:prstGeom prst="rect">
            <a:avLst/>
          </a:prstGeom>
          <a:solidFill>
            <a:srgbClr val="F055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4110751" y="1962150"/>
            <a:ext cx="39704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0F8FF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4205287" y="3067050"/>
            <a:ext cx="37814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Thank you for your attention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4205275" y="4075500"/>
            <a:ext cx="481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github.com/priyanshsharma2/mutual_fund_analytics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4205287" y="4467225"/>
            <a:ext cx="37814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contact@bluestock.in</a:t>
            </a:r>
            <a:endParaRPr/>
          </a:p>
        </p:txBody>
      </p:sp>
      <p:pic>
        <p:nvPicPr>
          <p:cNvPr descr="image.png" id="241" name="Google Shape;24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6725" y="4095750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10162" y="452437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